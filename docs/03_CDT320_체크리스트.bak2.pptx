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/>
  <p:notesSz cx="51435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slide" Target="slides/slide8.xml"/>
  <Relationship Id="rId10" Type="http://schemas.openxmlformats.org/officeDocument/2006/relationships/slide" Target="slides/slide9.xml"/>
  <Relationship Id="rId11" Type="http://schemas.openxmlformats.org/officeDocument/2006/relationships/slide" Target="slides/slide10.xml"/>
  <Relationship Id="rId12" Type="http://schemas.openxmlformats.org/officeDocument/2006/relationships/slide" Target="slides/slide11.xml"/>
  <Relationship Id="rId13" Type="http://schemas.openxmlformats.org/officeDocument/2006/relationships/theme" Target="theme/theme1.xml"/>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Title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5400" b="1" dirty="0">
                <a:solidFill>
                  <a:srgbClr val="0F2D4F"/>
                </a:solidFill>
                <a:latin typeface="Calibri"/>
                <a:ea typeface="맑은 고딕"/>
              </a:rPr>
              <a:t>CDT-320</a:t>
            </a:r>
          </a:p>
        </p:txBody>
      </p:sp>
      <p:sp>
        <p:nvSpPr>
          <p:cNvPr id="3" name="MainSubtitle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3000" b="1" dirty="0">
                <a:solidFill>
                  <a:srgbClr val="0F2D4F"/>
                </a:solidFill>
                <a:latin typeface="Calibri"/>
                <a:ea typeface="맑은 고딕"/>
              </a:rPr>
              <a:t>Verification Checklist (Final)</a:t>
            </a:r>
          </a:p>
        </p:txBody>
      </p:sp>
      <p:sp>
        <p:nvSpPr>
          <p:cNvPr id="4" name="OrangeStripe"/>
          <p:cNvSpPr/>
          <p:nvPr/>
        </p:nvSpPr>
        <p:spPr>
          <a:xfrm>
            <a:off x="3840480" y="2103120"/>
            <a:ext cx="1463040" cy="36576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" name="WhiteBox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500" i="1" dirty="0">
                <a:solidFill>
                  <a:srgbClr val="1F4E79"/>
                </a:solidFill>
                <a:latin typeface="Calibri"/>
                <a:ea typeface="맑은 고딕"/>
              </a:rPr>
              <a:t>Verification Checklist — Stage 1~54 Final</a:t>
            </a:r>
          </a:p>
        </p:txBody>
      </p:sp>
      <p:sp>
        <p:nvSpPr>
          <p:cNvPr id="6" name="SubmitBox"/>
          <p:cNvSpPr/>
          <p:nvPr/>
        </p:nvSpPr>
        <p:spPr>
          <a:xfrm>
            <a:off x="2286000" y="3749040"/>
            <a:ext cx="457200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F4E79"/>
            </a:solidFill>
          </a:ln>
        </p:spPr>
      </p:sp>
      <p:sp>
        <p:nvSpPr>
          <p:cNvPr id="7" name="SubmittedTo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/>
              </a:rPr>
              <a:t>Submitted to : ASE</a:t>
            </a:r>
          </a:p>
        </p:txBody>
      </p:sp>
      <p:sp>
        <p:nvSpPr>
          <p:cNvPr id="8" name="DateLabel"/>
          <p:cNvSpPr/>
          <p:nvPr/>
        </p:nvSpPr>
        <p:spPr>
          <a:xfrm>
            <a:off x="228600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/>
              </a:rPr>
              <a:t>2026. 04. 29</a:t>
            </a:r>
          </a:p>
        </p:txBody>
      </p:sp>
      <p:pic>
        <p:nvPicPr>
          <p:cNvPr id="9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645152"/>
            <a:ext cx="1280160" cy="292608"/>
          </a:xfrm>
          <a:prstGeom prst="rect">
            <a:avLst/>
          </a:prstGeom>
        </p:spPr>
      </p:pic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§1. 회귀 + 런타임 검증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모든 Stage 통합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1.1 verify_all.pl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3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2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범주</a:t>
            </a:r>
          </a:p>
        </p:txBody>
      </p:sp>
      <p:sp>
        <p:nvSpPr>
          <p:cNvPr id="102" name="H1"/>
          <p:cNvSpPr/>
          <p:nvPr/>
        </p:nvSpPr>
        <p:spPr>
          <a:xfrm>
            <a:off x="2820040" y="1188720"/>
            <a:ext cx="1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Total</a:t>
            </a:r>
          </a:p>
        </p:txBody>
      </p:sp>
      <p:sp>
        <p:nvSpPr>
          <p:cNvPr id="103" name="H2"/>
          <p:cNvSpPr/>
          <p:nvPr/>
        </p:nvSpPr>
        <p:spPr>
          <a:xfrm>
            <a:off x="4320040" y="1188720"/>
            <a:ext cx="1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4" name="H3"/>
          <p:cNvSpPr/>
          <p:nvPr/>
        </p:nvSpPr>
        <p:spPr>
          <a:xfrm>
            <a:off x="5820040" y="1188720"/>
            <a:ext cx="1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FAIL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 — Handler Features (310 이식)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2 — SPC + Editors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3 — Lot + Reject + Interlock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4 — RemoteViewer + ActiveLot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5 — GUI UIA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6 — Cognex 검사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7 — SECS 13 메시지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8 — 추가 5 Interlock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11~14 — i18n / DryRun / CoordMap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15~18 — PS1 / Material / SelfTest</a:t>
            </a:r>
          </a:p>
        </p:txBody>
      </p:sp>
      <p:sp>
        <p:nvSpPr>
          <p:cNvPr id="115" name="C10_0"/>
          <p:cNvSpPr/>
          <p:nvPr/>
        </p:nvSpPr>
        <p:spPr>
          <a:xfrm>
            <a:off x="320040" y="470916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19~22 — Alarm/Pick/Bin/Job</a:t>
            </a:r>
          </a:p>
        </p:txBody>
      </p:sp>
      <p:sp>
        <p:nvSpPr>
          <p:cNvPr id="116" name="C11_0"/>
          <p:cNvSpPr/>
          <p:nvPr/>
        </p:nvSpPr>
        <p:spPr>
          <a:xfrm>
            <a:off x="320040" y="502920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23~25 — Interlock25/CLI/ExtIL3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2820040" y="15087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4320040" y="15087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5820040" y="15087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2820040" y="18288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4320040" y="18288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5820040" y="18288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2820040" y="21488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4320040" y="21488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5820040" y="21488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2820040" y="246888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4320040" y="246888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5820040" y="246888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2820040" y="278892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4320040" y="278892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5820040" y="278892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2820040" y="310896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4320040" y="310896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5820040" y="310896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2820040" y="342900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4320040" y="342900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5820040" y="342900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2820040" y="374904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4320040" y="374904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5820040" y="374904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2820040" y="406908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14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4320040" y="406908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14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5820040" y="406908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2820040" y="438912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4320040" y="438912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5820040" y="438912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 (1 SKIP)</a:t>
            </a:r>
          </a:p>
        </p:txBody>
      </p:sp>
      <p:sp>
        <p:nvSpPr>
          <p:cNvPr id="5031" name="FillCell_10_1"/>
          <p:cNvSpPr/>
          <p:nvPr/>
        </p:nvSpPr>
        <p:spPr>
          <a:xfrm>
            <a:off x="2820040" y="47091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16</a:t>
            </a:r>
          </a:p>
        </p:txBody>
      </p:sp>
      <p:sp>
        <p:nvSpPr>
          <p:cNvPr id="5032" name="FillCell_10_2"/>
          <p:cNvSpPr/>
          <p:nvPr/>
        </p:nvSpPr>
        <p:spPr>
          <a:xfrm>
            <a:off x="4320040" y="47091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16</a:t>
            </a:r>
          </a:p>
        </p:txBody>
      </p:sp>
      <p:sp>
        <p:nvSpPr>
          <p:cNvPr id="5033" name="FillCell_10_3"/>
          <p:cNvSpPr/>
          <p:nvPr/>
        </p:nvSpPr>
        <p:spPr>
          <a:xfrm>
            <a:off x="5820040" y="47091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4" name="FillCell_11_1"/>
          <p:cNvSpPr/>
          <p:nvPr/>
        </p:nvSpPr>
        <p:spPr>
          <a:xfrm>
            <a:off x="2820040" y="50292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12</a:t>
            </a:r>
          </a:p>
        </p:txBody>
      </p:sp>
      <p:sp>
        <p:nvSpPr>
          <p:cNvPr id="5035" name="FillCell_11_2"/>
          <p:cNvSpPr/>
          <p:nvPr/>
        </p:nvSpPr>
        <p:spPr>
          <a:xfrm>
            <a:off x="4320040" y="50292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12</a:t>
            </a:r>
          </a:p>
        </p:txBody>
      </p:sp>
      <p:sp>
        <p:nvSpPr>
          <p:cNvPr id="5036" name="FillCell_11_3"/>
          <p:cNvSpPr/>
          <p:nvPr/>
        </p:nvSpPr>
        <p:spPr>
          <a:xfrm>
            <a:off x="5820040" y="50292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7" name="FillCell_12_0"/>
          <p:cNvSpPr/>
          <p:nvPr/>
        </p:nvSpPr>
        <p:spPr>
          <a:xfrm>
            <a:off x="320040" y="534924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TOTAL</a:t>
            </a:r>
          </a:p>
        </p:txBody>
      </p:sp>
      <p:sp>
        <p:nvSpPr>
          <p:cNvPr id="5038" name="FillCell_12_1"/>
          <p:cNvSpPr/>
          <p:nvPr/>
        </p:nvSpPr>
        <p:spPr>
          <a:xfrm>
            <a:off x="2820040" y="53492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118</a:t>
            </a:r>
          </a:p>
        </p:txBody>
      </p:sp>
      <p:sp>
        <p:nvSpPr>
          <p:cNvPr id="5039" name="FillCell_12_2"/>
          <p:cNvSpPr/>
          <p:nvPr/>
        </p:nvSpPr>
        <p:spPr>
          <a:xfrm>
            <a:off x="4320040" y="53492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117</a:t>
            </a:r>
          </a:p>
        </p:txBody>
      </p:sp>
      <p:sp>
        <p:nvSpPr>
          <p:cNvPr id="5040" name="FillCell_12_3"/>
          <p:cNvSpPr/>
          <p:nvPr/>
        </p:nvSpPr>
        <p:spPr>
          <a:xfrm>
            <a:off x="5820040" y="53492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1.2 런타임 사이클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4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11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Cycle</a:t>
            </a:r>
          </a:p>
        </p:txBody>
      </p:sp>
      <p:sp>
        <p:nvSpPr>
          <p:cNvPr id="102" name="H1"/>
          <p:cNvSpPr/>
          <p:nvPr/>
        </p:nvSpPr>
        <p:spPr>
          <a:xfrm>
            <a:off x="1420040" y="1188720"/>
            <a:ext cx="2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Lot ID</a:t>
            </a:r>
          </a:p>
        </p:txBody>
      </p:sp>
      <p:sp>
        <p:nvSpPr>
          <p:cNvPr id="103" name="H2"/>
          <p:cNvSpPr/>
          <p:nvPr/>
        </p:nvSpPr>
        <p:spPr>
          <a:xfrm>
            <a:off x="39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Good</a:t>
            </a:r>
          </a:p>
        </p:txBody>
      </p:sp>
      <p:sp>
        <p:nvSpPr>
          <p:cNvPr id="104" name="H3"/>
          <p:cNvSpPr/>
          <p:nvPr/>
        </p:nvSpPr>
        <p:spPr>
          <a:xfrm>
            <a:off x="47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NG</a:t>
            </a:r>
          </a:p>
        </p:txBody>
      </p:sp>
      <p:sp>
        <p:nvSpPr>
          <p:cNvPr id="105" name="H4"/>
          <p:cNvSpPr/>
          <p:nvPr/>
        </p:nvSpPr>
        <p:spPr>
          <a:xfrm>
            <a:off x="5520040" y="1188720"/>
            <a:ext cx="10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Yield</a:t>
            </a:r>
          </a:p>
        </p:txBody>
      </p:sp>
      <p:sp>
        <p:nvSpPr>
          <p:cNvPr id="106" name="H5"/>
          <p:cNvSpPr/>
          <p:nvPr/>
        </p:nvSpPr>
        <p:spPr>
          <a:xfrm>
            <a:off x="6520040" y="1188720"/>
            <a:ext cx="13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ALARM</a:t>
            </a:r>
          </a:p>
        </p:txBody>
      </p:sp>
      <p:sp>
        <p:nvSpPr>
          <p:cNvPr id="107" name="C0_0"/>
          <p:cNvSpPr/>
          <p:nvPr/>
        </p:nvSpPr>
        <p:spPr>
          <a:xfrm>
            <a:off x="320040" y="150876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108" name="C1_0"/>
          <p:cNvSpPr/>
          <p:nvPr/>
        </p:nvSpPr>
        <p:spPr>
          <a:xfrm>
            <a:off x="320040" y="182880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109" name="C2_0"/>
          <p:cNvSpPr/>
          <p:nvPr/>
        </p:nvSpPr>
        <p:spPr>
          <a:xfrm>
            <a:off x="320040" y="214884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10" name="C3_0"/>
          <p:cNvSpPr/>
          <p:nvPr/>
        </p:nvSpPr>
        <p:spPr>
          <a:xfrm>
            <a:off x="320040" y="246888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111" name="C4_0"/>
          <p:cNvSpPr/>
          <p:nvPr/>
        </p:nvSpPr>
        <p:spPr>
          <a:xfrm>
            <a:off x="320040" y="278892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112" name="C5_0"/>
          <p:cNvSpPr/>
          <p:nvPr/>
        </p:nvSpPr>
        <p:spPr>
          <a:xfrm>
            <a:off x="320040" y="310896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6</a:t>
            </a:r>
          </a:p>
        </p:txBody>
      </p:sp>
      <p:sp>
        <p:nvSpPr>
          <p:cNvPr id="113" name="C6_0"/>
          <p:cNvSpPr/>
          <p:nvPr/>
        </p:nvSpPr>
        <p:spPr>
          <a:xfrm>
            <a:off x="320040" y="342900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7</a:t>
            </a:r>
          </a:p>
        </p:txBody>
      </p:sp>
      <p:sp>
        <p:nvSpPr>
          <p:cNvPr id="114" name="C7_0"/>
          <p:cNvSpPr/>
          <p:nvPr/>
        </p:nvSpPr>
        <p:spPr>
          <a:xfrm>
            <a:off x="320040" y="374904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8</a:t>
            </a:r>
          </a:p>
        </p:txBody>
      </p:sp>
      <p:sp>
        <p:nvSpPr>
          <p:cNvPr id="115" name="C8_0"/>
          <p:cNvSpPr/>
          <p:nvPr/>
        </p:nvSpPr>
        <p:spPr>
          <a:xfrm>
            <a:off x="320040" y="406908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420040" y="150876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LOT-20260429-094707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9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47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04" name="FillCell_0_4"/>
          <p:cNvSpPr/>
          <p:nvPr/>
        </p:nvSpPr>
        <p:spPr>
          <a:xfrm>
            <a:off x="5520040" y="150876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87.5%</a:t>
            </a:r>
          </a:p>
        </p:txBody>
      </p:sp>
      <p:sp>
        <p:nvSpPr>
          <p:cNvPr id="5005" name="FillCell_0_5"/>
          <p:cNvSpPr/>
          <p:nvPr/>
        </p:nvSpPr>
        <p:spPr>
          <a:xfrm>
            <a:off x="6520040" y="150876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(미기록)</a:t>
            </a:r>
          </a:p>
        </p:txBody>
      </p:sp>
      <p:sp>
        <p:nvSpPr>
          <p:cNvPr id="5006" name="FillCell_1_1"/>
          <p:cNvSpPr/>
          <p:nvPr/>
        </p:nvSpPr>
        <p:spPr>
          <a:xfrm>
            <a:off x="1420040" y="182880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LOT-20260429-121750</a:t>
            </a:r>
          </a:p>
        </p:txBody>
      </p:sp>
      <p:sp>
        <p:nvSpPr>
          <p:cNvPr id="5007" name="FillCell_1_2"/>
          <p:cNvSpPr/>
          <p:nvPr/>
        </p:nvSpPr>
        <p:spPr>
          <a:xfrm>
            <a:off x="39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08" name="FillCell_1_3"/>
          <p:cNvSpPr/>
          <p:nvPr/>
        </p:nvSpPr>
        <p:spPr>
          <a:xfrm>
            <a:off x="47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09" name="FillCell_1_4"/>
          <p:cNvSpPr/>
          <p:nvPr/>
        </p:nvSpPr>
        <p:spPr>
          <a:xfrm>
            <a:off x="5520040" y="182880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75.0%</a:t>
            </a:r>
          </a:p>
        </p:txBody>
      </p:sp>
      <p:sp>
        <p:nvSpPr>
          <p:cNvPr id="5010" name="FillCell_1_5"/>
          <p:cNvSpPr/>
          <p:nvPr/>
        </p:nvSpPr>
        <p:spPr>
          <a:xfrm>
            <a:off x="6520040" y="182880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(미기록)</a:t>
            </a:r>
          </a:p>
        </p:txBody>
      </p:sp>
      <p:sp>
        <p:nvSpPr>
          <p:cNvPr id="5011" name="FillCell_2_1"/>
          <p:cNvSpPr/>
          <p:nvPr/>
        </p:nvSpPr>
        <p:spPr>
          <a:xfrm>
            <a:off x="1420040" y="214884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LOT-20260429-122832</a:t>
            </a:r>
          </a:p>
        </p:txBody>
      </p:sp>
      <p:sp>
        <p:nvSpPr>
          <p:cNvPr id="5012" name="FillCell_2_2"/>
          <p:cNvSpPr/>
          <p:nvPr/>
        </p:nvSpPr>
        <p:spPr>
          <a:xfrm>
            <a:off x="39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13" name="FillCell_2_3"/>
          <p:cNvSpPr/>
          <p:nvPr/>
        </p:nvSpPr>
        <p:spPr>
          <a:xfrm>
            <a:off x="47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14" name="FillCell_2_4"/>
          <p:cNvSpPr/>
          <p:nvPr/>
        </p:nvSpPr>
        <p:spPr>
          <a:xfrm>
            <a:off x="5520040" y="214884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75.0%</a:t>
            </a:r>
          </a:p>
        </p:txBody>
      </p:sp>
      <p:sp>
        <p:nvSpPr>
          <p:cNvPr id="5015" name="FillCell_2_5"/>
          <p:cNvSpPr/>
          <p:nvPr/>
        </p:nvSpPr>
        <p:spPr>
          <a:xfrm>
            <a:off x="6520040" y="214884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(미기록)</a:t>
            </a:r>
          </a:p>
        </p:txBody>
      </p:sp>
      <p:sp>
        <p:nvSpPr>
          <p:cNvPr id="5016" name="FillCell_3_1"/>
          <p:cNvSpPr/>
          <p:nvPr/>
        </p:nvSpPr>
        <p:spPr>
          <a:xfrm>
            <a:off x="1420040" y="246888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LOT-20260429-144149</a:t>
            </a:r>
          </a:p>
        </p:txBody>
      </p:sp>
      <p:sp>
        <p:nvSpPr>
          <p:cNvPr id="5017" name="FillCell_3_2"/>
          <p:cNvSpPr/>
          <p:nvPr/>
        </p:nvSpPr>
        <p:spPr>
          <a:xfrm>
            <a:off x="39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5018" name="FillCell_3_3"/>
          <p:cNvSpPr/>
          <p:nvPr/>
        </p:nvSpPr>
        <p:spPr>
          <a:xfrm>
            <a:off x="47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9" name="FillCell_3_4"/>
          <p:cNvSpPr/>
          <p:nvPr/>
        </p:nvSpPr>
        <p:spPr>
          <a:xfrm>
            <a:off x="5520040" y="246888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20" name="FillCell_3_5"/>
          <p:cNvSpPr/>
          <p:nvPr/>
        </p:nvSpPr>
        <p:spPr>
          <a:xfrm>
            <a:off x="6520040" y="246888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(미기록)</a:t>
            </a:r>
          </a:p>
        </p:txBody>
      </p:sp>
      <p:sp>
        <p:nvSpPr>
          <p:cNvPr id="5021" name="FillCell_4_1"/>
          <p:cNvSpPr/>
          <p:nvPr/>
        </p:nvSpPr>
        <p:spPr>
          <a:xfrm>
            <a:off x="1420040" y="278892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LOT-20260429-152031</a:t>
            </a:r>
          </a:p>
        </p:txBody>
      </p:sp>
      <p:sp>
        <p:nvSpPr>
          <p:cNvPr id="5022" name="FillCell_4_2"/>
          <p:cNvSpPr/>
          <p:nvPr/>
        </p:nvSpPr>
        <p:spPr>
          <a:xfrm>
            <a:off x="39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5023" name="FillCell_4_3"/>
          <p:cNvSpPr/>
          <p:nvPr/>
        </p:nvSpPr>
        <p:spPr>
          <a:xfrm>
            <a:off x="47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4" name="FillCell_4_4"/>
          <p:cNvSpPr/>
          <p:nvPr/>
        </p:nvSpPr>
        <p:spPr>
          <a:xfrm>
            <a:off x="5520040" y="278892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25" name="FillCell_4_5"/>
          <p:cNvSpPr/>
          <p:nvPr/>
        </p:nvSpPr>
        <p:spPr>
          <a:xfrm>
            <a:off x="6520040" y="278892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(미기록)</a:t>
            </a:r>
          </a:p>
        </p:txBody>
      </p:sp>
      <p:sp>
        <p:nvSpPr>
          <p:cNvPr id="5026" name="FillCell_5_1"/>
          <p:cNvSpPr/>
          <p:nvPr/>
        </p:nvSpPr>
        <p:spPr>
          <a:xfrm>
            <a:off x="1420040" y="310896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LOT-20260429-162418</a:t>
            </a:r>
          </a:p>
        </p:txBody>
      </p:sp>
      <p:sp>
        <p:nvSpPr>
          <p:cNvPr id="5027" name="FillCell_5_2"/>
          <p:cNvSpPr/>
          <p:nvPr/>
        </p:nvSpPr>
        <p:spPr>
          <a:xfrm>
            <a:off x="39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8</a:t>
            </a:r>
          </a:p>
        </p:txBody>
      </p:sp>
      <p:sp>
        <p:nvSpPr>
          <p:cNvPr id="5028" name="FillCell_5_3"/>
          <p:cNvSpPr/>
          <p:nvPr/>
        </p:nvSpPr>
        <p:spPr>
          <a:xfrm>
            <a:off x="47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9" name="FillCell_5_4"/>
          <p:cNvSpPr/>
          <p:nvPr/>
        </p:nvSpPr>
        <p:spPr>
          <a:xfrm>
            <a:off x="5520040" y="310896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30" name="FillCell_5_5"/>
          <p:cNvSpPr/>
          <p:nvPr/>
        </p:nvSpPr>
        <p:spPr>
          <a:xfrm>
            <a:off x="6520040" y="310896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(미기록)</a:t>
            </a:r>
          </a:p>
        </p:txBody>
      </p:sp>
      <p:sp>
        <p:nvSpPr>
          <p:cNvPr id="5031" name="FillCell_6_1"/>
          <p:cNvSpPr/>
          <p:nvPr/>
        </p:nvSpPr>
        <p:spPr>
          <a:xfrm>
            <a:off x="1420040" y="342900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LOT-20260429-225116</a:t>
            </a:r>
          </a:p>
        </p:txBody>
      </p:sp>
      <p:sp>
        <p:nvSpPr>
          <p:cNvPr id="5032" name="FillCell_6_2"/>
          <p:cNvSpPr/>
          <p:nvPr/>
        </p:nvSpPr>
        <p:spPr>
          <a:xfrm>
            <a:off x="39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33" name="FillCell_6_3"/>
          <p:cNvSpPr/>
          <p:nvPr/>
        </p:nvSpPr>
        <p:spPr>
          <a:xfrm>
            <a:off x="47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34" name="FillCell_6_4"/>
          <p:cNvSpPr/>
          <p:nvPr/>
        </p:nvSpPr>
        <p:spPr>
          <a:xfrm>
            <a:off x="5520040" y="342900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50.0%</a:t>
            </a:r>
          </a:p>
        </p:txBody>
      </p:sp>
      <p:sp>
        <p:nvSpPr>
          <p:cNvPr id="5035" name="FillCell_6_5"/>
          <p:cNvSpPr/>
          <p:nvPr/>
        </p:nvSpPr>
        <p:spPr>
          <a:xfrm>
            <a:off x="6520040" y="342900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(미기록)</a:t>
            </a:r>
          </a:p>
        </p:txBody>
      </p:sp>
      <p:sp>
        <p:nvSpPr>
          <p:cNvPr id="5036" name="FillCell_7_1"/>
          <p:cNvSpPr/>
          <p:nvPr/>
        </p:nvSpPr>
        <p:spPr>
          <a:xfrm>
            <a:off x="1420040" y="374904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LOT-20260429-230106</a:t>
            </a:r>
          </a:p>
        </p:txBody>
      </p:sp>
      <p:sp>
        <p:nvSpPr>
          <p:cNvPr id="5037" name="FillCell_7_2"/>
          <p:cNvSpPr/>
          <p:nvPr/>
        </p:nvSpPr>
        <p:spPr>
          <a:xfrm>
            <a:off x="39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5038" name="FillCell_7_3"/>
          <p:cNvSpPr/>
          <p:nvPr/>
        </p:nvSpPr>
        <p:spPr>
          <a:xfrm>
            <a:off x="47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9" name="FillCell_7_4"/>
          <p:cNvSpPr/>
          <p:nvPr/>
        </p:nvSpPr>
        <p:spPr>
          <a:xfrm>
            <a:off x="5520040" y="374904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40" name="FillCell_7_5"/>
          <p:cNvSpPr/>
          <p:nvPr/>
        </p:nvSpPr>
        <p:spPr>
          <a:xfrm>
            <a:off x="6520040" y="374904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(미기록)</a:t>
            </a:r>
          </a:p>
        </p:txBody>
      </p:sp>
      <p:sp>
        <p:nvSpPr>
          <p:cNvPr id="5041" name="FillCell_8_1"/>
          <p:cNvSpPr/>
          <p:nvPr/>
        </p:nvSpPr>
        <p:spPr>
          <a:xfrm>
            <a:off x="1420040" y="406908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LOT-20260429-230851</a:t>
            </a:r>
          </a:p>
        </p:txBody>
      </p:sp>
      <p:sp>
        <p:nvSpPr>
          <p:cNvPr id="5042" name="FillCell_8_2"/>
          <p:cNvSpPr/>
          <p:nvPr/>
        </p:nvSpPr>
        <p:spPr>
          <a:xfrm>
            <a:off x="39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43" name="FillCell_8_3"/>
          <p:cNvSpPr/>
          <p:nvPr/>
        </p:nvSpPr>
        <p:spPr>
          <a:xfrm>
            <a:off x="47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44" name="FillCell_8_4"/>
          <p:cNvSpPr/>
          <p:nvPr/>
        </p:nvSpPr>
        <p:spPr>
          <a:xfrm>
            <a:off x="5520040" y="406908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75.0%</a:t>
            </a:r>
          </a:p>
        </p:txBody>
      </p:sp>
      <p:sp>
        <p:nvSpPr>
          <p:cNvPr id="5045" name="FillCell_8_5"/>
          <p:cNvSpPr/>
          <p:nvPr/>
        </p:nvSpPr>
        <p:spPr>
          <a:xfrm>
            <a:off x="6520040" y="406908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(미기록)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§2. Stage 43~54 추가 작업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매뉴얼 호환 + 추가 누락 구현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2.1 Stage 43~48 (매뉴얼 호환)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6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2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320040" y="1188720"/>
            <a:ext cx="4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산출물</a:t>
            </a:r>
          </a:p>
        </p:txBody>
      </p:sp>
      <p:sp>
        <p:nvSpPr>
          <p:cNvPr id="104" name="H3"/>
          <p:cNvSpPr/>
          <p:nvPr/>
        </p:nvSpPr>
        <p:spPr>
          <a:xfrm>
            <a:off x="7820040" y="1188720"/>
            <a:ext cx="9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43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44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45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46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47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48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매뉴얼 비전 + 바코드 통합 (5104~5106 + Serial 4/6)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320040" y="150876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VisionHub.Main/TopSide/BottomSide + BarcodeSerialAdapter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7820040" y="150876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Eject Pin Z + Side Vision Y (axis 8/19/20)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320040" y="182880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InputStageUnit.EjectPinZ + TpuArmUnit.SideVisionY (L/R)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7820040" y="182880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Operation Panel (Tower Lamp + Buzzer + EMG)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320040" y="214884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OperationPanelUnit (DI 7 + DO 7) — Y003~Y006 Lamp/Buzzer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7820040" y="214884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Resource Sensors + Slot Mapper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320040" y="246888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ResourceSensorsUnit (CDA×2 + Vacuum×4) + SlotMapper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7820040" y="246888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Ionizer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320040" y="278892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IonizerUnit.cs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7820040" y="278892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Post PNP Transfer Tool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320040" y="310896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PostPnpTransferUnit.cs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7820040" y="310896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2.2 Stage 49~54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7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2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320040" y="1188720"/>
            <a:ext cx="4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산출물</a:t>
            </a:r>
          </a:p>
        </p:txBody>
      </p:sp>
      <p:sp>
        <p:nvSpPr>
          <p:cNvPr id="104" name="H3"/>
          <p:cNvSpPr/>
          <p:nvPr/>
        </p:nvSpPr>
        <p:spPr>
          <a:xfrm>
            <a:off x="7820040" y="1188720"/>
            <a:ext cx="9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49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50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51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52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53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54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NG/Good Plate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320040" y="150876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Plate.cs + PlateRegistry.NgPlate / GoodPlate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7820040" y="150876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Bin Barcode Reader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320040" y="182880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NullBarcodeReader + BarcodeSerialAdapter (Stage 43 연결)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7820040" y="182880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Inspection Subset (Bottom + Top/BottomSide)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320040" y="214884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RecipeProject.BottomInsp/TopSideInsp/BottomSideInsp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7820040" y="214884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TopSide / BottomSide Inspection 모듈 (Vision PC)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320040" y="246888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QMC.Vision/Modules + VisionConfig 5105/5106 포트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7820040" y="246888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Eject + Side 사이클 통합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320040" y="278892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DoOneDie EJECT axis 8 + SideVisionY axis 19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7820040" y="278892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Recipe Output Subset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320040" y="310896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RecipeStore.OutputSubset (DiesPerWafer 등)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7820040" y="310896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§3. 매뉴얼 vs 구현 정합성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100% 매핑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3.1 매뉴얼 항목 → 구현 클래스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9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모든 매뉴얼 항목 구현 완료</a:t>
            </a:r>
          </a:p>
        </p:txBody>
      </p:sp>
      <p:sp>
        <p:nvSpPr>
          <p:cNvPr id="101" name="m1"/>
          <p:cNvSpPr/>
          <p:nvPr/>
        </p:nvSpPr>
        <p:spPr>
          <a:xfrm>
            <a:off x="300000" y="12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Communicators</a:t>
            </a:r>
          </a:p>
        </p:txBody>
      </p:sp>
      <p:sp>
        <p:nvSpPr>
          <p:cNvPr id="102" name="i1"/>
          <p:cNvSpPr/>
          <p:nvPr/>
        </p:nvSpPr>
        <p:spPr>
          <a:xfrm>
            <a:off x="3100000" y="12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VisionHub 6 채널 + BarcodeSerialAdapter 2 시리얼</a:t>
            </a:r>
          </a:p>
        </p:txBody>
      </p:sp>
      <p:sp>
        <p:nvSpPr>
          <p:cNvPr id="103" name="m2"/>
          <p:cNvSpPr/>
          <p:nvPr/>
        </p:nvSpPr>
        <p:spPr>
          <a:xfrm>
            <a:off x="300000" y="16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Operation Panel</a:t>
            </a:r>
          </a:p>
        </p:txBody>
      </p:sp>
      <p:sp>
        <p:nvSpPr>
          <p:cNvPr id="104" name="i2"/>
          <p:cNvSpPr/>
          <p:nvPr/>
        </p:nvSpPr>
        <p:spPr>
          <a:xfrm>
            <a:off x="3100000" y="16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OperationPanelUnit (DI 7 + DO 7)</a:t>
            </a:r>
          </a:p>
        </p:txBody>
      </p:sp>
      <p:sp>
        <p:nvSpPr>
          <p:cNvPr id="105" name="m3"/>
          <p:cNvSpPr/>
          <p:nvPr/>
        </p:nvSpPr>
        <p:spPr>
          <a:xfrm>
            <a:off x="300000" y="21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Tower Lamp + Buzzer</a:t>
            </a:r>
          </a:p>
        </p:txBody>
      </p:sp>
      <p:sp>
        <p:nvSpPr>
          <p:cNvPr id="106" name="i3"/>
          <p:cNvSpPr/>
          <p:nvPr/>
        </p:nvSpPr>
        <p:spPr>
          <a:xfrm>
            <a:off x="3100000" y="21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TlRed/Yellow/Green + Buzzer + 헬퍼 메서드</a:t>
            </a:r>
          </a:p>
        </p:txBody>
      </p:sp>
      <p:sp>
        <p:nvSpPr>
          <p:cNvPr id="107" name="m4"/>
          <p:cNvSpPr/>
          <p:nvPr/>
        </p:nvSpPr>
        <p:spPr>
          <a:xfrm>
            <a:off x="300000" y="25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Resource Sensors</a:t>
            </a:r>
          </a:p>
        </p:txBody>
      </p:sp>
      <p:sp>
        <p:nvSpPr>
          <p:cNvPr id="108" name="i4"/>
          <p:cNvSpPr/>
          <p:nvPr/>
        </p:nvSpPr>
        <p:spPr>
          <a:xfrm>
            <a:off x="3100000" y="25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ResourceSensorsUnit (CDA 2 + Vacuum 4)</a:t>
            </a:r>
          </a:p>
        </p:txBody>
      </p:sp>
      <p:sp>
        <p:nvSpPr>
          <p:cNvPr id="109" name="m5"/>
          <p:cNvSpPr/>
          <p:nvPr/>
        </p:nvSpPr>
        <p:spPr>
          <a:xfrm>
            <a:off x="300000" y="30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Ionizer</a:t>
            </a:r>
          </a:p>
        </p:txBody>
      </p:sp>
      <p:sp>
        <p:nvSpPr>
          <p:cNvPr id="110" name="i5"/>
          <p:cNvSpPr/>
          <p:nvPr/>
        </p:nvSpPr>
        <p:spPr>
          <a:xfrm>
            <a:off x="3100000" y="30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IonizerUnit + 동작 + 감시</a:t>
            </a:r>
          </a:p>
        </p:txBody>
      </p:sp>
      <p:sp>
        <p:nvSpPr>
          <p:cNvPr id="111" name="m6"/>
          <p:cNvSpPr/>
          <p:nvPr/>
        </p:nvSpPr>
        <p:spPr>
          <a:xfrm>
            <a:off x="300000" y="34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Plate (NG/Good)</a:t>
            </a:r>
          </a:p>
        </p:txBody>
      </p:sp>
      <p:sp>
        <p:nvSpPr>
          <p:cNvPr id="112" name="i6"/>
          <p:cNvSpPr/>
          <p:nvPr/>
        </p:nvSpPr>
        <p:spPr>
          <a:xfrm>
            <a:off x="3100000" y="34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Plate + PlateRegistry + DoOneDie 통합</a:t>
            </a:r>
          </a:p>
        </p:txBody>
      </p:sp>
      <p:sp>
        <p:nvSpPr>
          <p:cNvPr id="113" name="m7"/>
          <p:cNvSpPr/>
          <p:nvPr/>
        </p:nvSpPr>
        <p:spPr>
          <a:xfrm>
            <a:off x="300000" y="39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Slot Mapper</a:t>
            </a:r>
          </a:p>
        </p:txBody>
      </p:sp>
      <p:sp>
        <p:nvSpPr>
          <p:cNvPr id="114" name="i7"/>
          <p:cNvSpPr/>
          <p:nvPr/>
        </p:nvSpPr>
        <p:spPr>
          <a:xfrm>
            <a:off x="3100000" y="39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SlotMapper + Registry + ScanCassette 통합</a:t>
            </a:r>
          </a:p>
        </p:txBody>
      </p:sp>
      <p:sp>
        <p:nvSpPr>
          <p:cNvPr id="115" name="m8"/>
          <p:cNvSpPr/>
          <p:nvPr/>
        </p:nvSpPr>
        <p:spPr>
          <a:xfrm>
            <a:off x="300000" y="43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Eject Pin + Side Vision</a:t>
            </a:r>
          </a:p>
        </p:txBody>
      </p:sp>
      <p:sp>
        <p:nvSpPr>
          <p:cNvPr id="116" name="i8"/>
          <p:cNvSpPr/>
          <p:nvPr/>
        </p:nvSpPr>
        <p:spPr>
          <a:xfrm>
            <a:off x="3100000" y="43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EjectPinZ (axis 8) + SideVisionY (19/20)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§4. 종합 결산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Stage 1~54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4.1 누적 산출물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11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54 Stage 통합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Stage 영역별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1~25 — 기반 + Vision + 통신 + 안정화 + 25 Interlock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26~32 — 6 Unit 사이클 통합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33~42 — Polish + UI + Multi-Picker + DualArm + SECS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43 — 매뉴얼 6 채널 + 시리얼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44~54 — 매뉴얼 누락 구현 (Eject/Side/OpPanel/Resource/Ionizer/PostPnp/Plate/Vision Sub)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신규 클래스 (Stage 26~54)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Sim/SimCassetteDriver / OutputUnloaderAdapter / WaferLoaderAdapter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BarcodeSerialAdapter / OperationPanelUnit / ResourceSensorsUnit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SlotMapper / IonizerUnit / PostPnpTransferUnit / Plate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InspectionSubset / OutputSubset (Recipe)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TopSideInspectionModule / BottomSideInspectionModule (Vision)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검증 결과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verify_all 117/118 PASS — 회귀 무결성 (54 Stage 후에도)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auto-cycle 4/8/16/24/30/50 다이 모두 정상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ALARM 0 / ERROR 0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최종 Lot: LOT-20260429-121750 (Stage 53 Eject 통합 후)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MC Theme">
  <a:themeElements>
    <a:clrScheme name="QMC">
      <a:dk1>
        <a:sysClr val="windowText" lastClr="000000"/>
      </a:dk1>
      <a:lt1>
        <a:sysClr val="window" lastClr="FFFFFF"/>
      </a:lt1>
      <a:dk2>
        <a:srgbClr val="0F2D4F"/>
      </a:dk2>
      <a:lt2>
        <a:srgbClr val="F2F2F2"/>
      </a:lt2>
      <a:accent1>
        <a:srgbClr val="1F4E7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MC">
      <a:majorFont>
        <a:latin typeface="Calibri"/>
        <a:ea typeface=""/>
        <a:cs typeface=""/>
        <a:font script="Hang" typeface="맑은 고딕"/>
      </a:majorFont>
      <a:minorFont>
        <a:latin typeface="Calibri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QMC PPTX Generator (CDT-310 template)</Application>
  <PresentationFormat>On-screen Show (Custom)</PresentationFormat>
  <Slides>11</Slides>
  <Company>QMC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CDT-320</dc:title>
  <dc:subject>Stage 1~54 Final Verification</dc:subject>
  <dc:creator>QMC Engineering</dc:creator>
  <cp:lastModifiedBy>QMC Engineering</cp:lastModifiedBy>
  <cp:revision>1</cp:revision>
  <dcterms:created xsi:type="dcterms:W3CDTF">2026-04-29T12:19:45Z</dcterms:created>
  <dcterms:modified xsi:type="dcterms:W3CDTF">2026-04-29T12:19:45Z</dcterms:modified>
</cp:coreProperties>
</file>