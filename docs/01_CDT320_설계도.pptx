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slide" Target="slides/slide12.xml"/>
  <Relationship Id="rId14" Type="http://schemas.openxmlformats.org/officeDocument/2006/relationships/slide" Target="slides/slide13.xml"/>
  <Relationship Id="rId15" Type="http://schemas.openxmlformats.org/officeDocument/2006/relationships/slide" Target="slides/slide14.xml"/>
  <Relationship Id="rId16" Type="http://schemas.openxmlformats.org/officeDocument/2006/relationships/slide" Target="slides/slide15.xml"/>
  <Relationship Id="rId17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System Design (Manual-Compatible)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System Architecture &amp; Design — 매뉴얼 3종 호환 (CDT-310 + CDT-300)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프로젝트 개요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시스템 개요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CDT-310 매뉴얼 사양 + CDT-320 확장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프로젝트 정의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CDT-300 시리즈 듀얼 픽커 다이 본더 핸들러 — .NET 4.7.2 / WinForms 재구현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Vision PC + 3D 시뮬레이터 통합 (sim 모드 단독 검증 가능)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AJINEXTEK AXL 실보드 + Sim 자동 분기 (1 binary 양쪽 지원)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매뉴얼 3종 출처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ASEKorea_CDT-300_User_Manual_20181012.doc — CDT-300 운영 매뉴얼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2026.01.23_CDT310.docx — CDT-310 하드웨어/통신/IO 사양 (162KB)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2025.08.19_CDT310 Vision.docx — Vision 통신 사양 (40KB)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매뉴얼 호환 통신 채널 6종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5100 — Wafer Vision Communicator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5101 — Inspection (Bottom) Vision Communicator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5103 — Bin Vision Communicator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5104 — Main Communicator (NEW)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5105 — TopSide Inspection Vision (NEW)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5106 — BottomSide Inspection Vision (NEW)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시리얼 포트 2종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4 — Wafer Barcode Communicator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6 — Bin Barcode Communicator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1.2 시스템 블록 다이어그램 (3 프로세스)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4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매뉴얼 사양 + Sim 통합</a:t>
            </a:r>
          </a:p>
        </p:txBody>
      </p:sp>
      <p:sp>
        <p:nvSpPr>
          <p:cNvPr id="101" name="vision"/>
          <p:cNvSpPr/>
          <p:nvPr/>
        </p:nvSpPr>
        <p:spPr>
          <a:xfrm>
            <a:off x="300000" y="1300000"/>
            <a:ext cx="2000000" cy="13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Calibri"/>
                <a:ea typeface="맑은 고딕"/>
              </a:rPr>
              <a:t>QMC.Vision
(Cognex/OpenCV/Sim)
────────
5100/5101/5103
+5104/5105/5106</a:t>
            </a:r>
          </a:p>
        </p:txBody>
      </p:sp>
      <p:sp>
        <p:nvSpPr>
          <p:cNvPr id="102" name="handler"/>
          <p:cNvSpPr/>
          <p:nvPr/>
        </p:nvSpPr>
        <p:spPr>
          <a:xfrm>
            <a:off x="2500000" y="1300000"/>
            <a:ext cx="2700000" cy="13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QMC.CDT-320
(Handler)
────────
6 Tabs / 5 권한
6 Unit + 25 Interlock
Lot/Material/Job</a:t>
            </a:r>
          </a:p>
        </p:txBody>
      </p:sp>
      <p:sp>
        <p:nvSpPr>
          <p:cNvPr id="103" name="sim"/>
          <p:cNvSpPr/>
          <p:nvPr/>
        </p:nvSpPr>
        <p:spPr>
          <a:xfrm>
            <a:off x="5400000" y="1300000"/>
            <a:ext cx="2000000" cy="1300000"/>
          </a:xfrm>
          <a:prstGeom prst="rect">
            <a:avLst/>
          </a:prstGeom>
          <a:solidFill>
            <a:srgbClr val="70AD47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CDT320Simulator
(WPF 3D)
────────
TCP 7001
37 axes / IO Map</a:t>
            </a:r>
          </a:p>
        </p:txBody>
      </p:sp>
      <p:sp>
        <p:nvSpPr>
          <p:cNvPr id="104" name="real"/>
          <p:cNvSpPr/>
          <p:nvPr/>
        </p:nvSpPr>
        <p:spPr>
          <a:xfrm>
            <a:off x="2500000" y="2900000"/>
            <a:ext cx="2700000" cy="700000"/>
          </a:xfrm>
          <a:prstGeom prst="rect">
            <a:avLst/>
          </a:prstGeom>
          <a:solidFill>
            <a:srgbClr val="0F2D4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AJINEXTEK AXL Board
37 axes + DI/DO + Cylinders</a:t>
            </a:r>
          </a:p>
        </p:txBody>
      </p:sp>
      <p:sp>
        <p:nvSpPr>
          <p:cNvPr id="105" name="bc"/>
          <p:cNvSpPr/>
          <p:nvPr/>
        </p:nvSpPr>
        <p:spPr>
          <a:xfrm>
            <a:off x="5400000" y="2900000"/>
            <a:ext cx="2000000" cy="7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Barcode Scanners
Serial Port 4 / 6</a:t>
            </a:r>
          </a:p>
        </p:txBody>
      </p:sp>
      <p:cxnSp>
        <p:nvCxnSpPr>
          <p:cNvPr id="106" name="vh"/>
          <p:cNvCxnSpPr/>
          <p:nvPr/>
        </p:nvCxnSpPr>
        <p:spPr>
          <a:xfrm>
            <a:off x="2300000" y="1850000"/>
            <a:ext cx="2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7" name="hs"/>
          <p:cNvCxnSpPr/>
          <p:nvPr/>
        </p:nvCxnSpPr>
        <p:spPr>
          <a:xfrm>
            <a:off x="5200000" y="1850000"/>
            <a:ext cx="2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8" name="hr"/>
          <p:cNvCxnSpPr/>
          <p:nvPr/>
        </p:nvCxnSpPr>
        <p:spPr>
          <a:xfrm>
            <a:off x="3850000" y="2600000"/>
            <a:ext cx="100" cy="300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9" name="bcr"/>
          <p:cNvCxnSpPr/>
          <p:nvPr/>
        </p:nvCxnSpPr>
        <p:spPr>
          <a:xfrm>
            <a:off x="5800000" y="2600000"/>
            <a:ext cx="100" cy="300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10" name="cap"/>
          <p:cNvSpPr/>
          <p:nvPr/>
        </p:nvSpPr>
        <p:spPr>
          <a:xfrm>
            <a:off x="300000" y="3900000"/>
            <a:ext cx="740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950" i="1" dirty="0">
                <a:solidFill>
                  <a:srgbClr val="595959"/>
                </a:solidFill>
                <a:latin typeface="Calibri"/>
                <a:ea typeface="맑은 고딕"/>
              </a:rPr>
              <a:t>라인 프로토콜 (Vision) + JSON HELLO (Sim) + P/Invoke AXL.dll (실보드)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4-Layer 아키텍처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Layered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Handler 4-Layer 구조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명확한 책임 분리</a:t>
            </a:r>
          </a:p>
        </p:txBody>
      </p:sp>
      <p:sp>
        <p:nvSpPr>
          <p:cNvPr id="101" name="L1"/>
          <p:cNvSpPr/>
          <p:nvPr/>
        </p:nvSpPr>
        <p:spPr>
          <a:xfrm>
            <a:off x="400000" y="1300000"/>
            <a:ext cx="8200000" cy="6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UI Layer — Form1 + 6 Tabs (Work/WorkInfo/History/Recipe/Settings/User) + 50+ Pages + 17 Dialogs</a:t>
            </a:r>
          </a:p>
        </p:txBody>
      </p:sp>
      <p:sp>
        <p:nvSpPr>
          <p:cNvPr id="102" name="L2"/>
          <p:cNvSpPr/>
          <p:nvPr/>
        </p:nvSpPr>
        <p:spPr>
          <a:xfrm>
            <a:off x="400000" y="2050000"/>
            <a:ext cx="8200000" cy="60000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Controller — MachineController (Init/Start/Stop/CycleRun/Shutdown/EStop)</a:t>
            </a:r>
          </a:p>
        </p:txBody>
      </p:sp>
      <p:sp>
        <p:nvSpPr>
          <p:cNvPr id="103" name="L3"/>
          <p:cNvSpPr/>
          <p:nvPr/>
        </p:nvSpPr>
        <p:spPr>
          <a:xfrm>
            <a:off x="400000" y="2800000"/>
            <a:ext cx="8200000" cy="600000"/>
          </a:xfrm>
          <a:prstGeom prst="rect">
            <a:avLst/>
          </a:prstGeom>
          <a:solidFill>
            <a:srgbClr val="59595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Equipment — CDT320_Machine + 6 Units + 25 Interlocks + Lot/Material/Job/SECS/Vision</a:t>
            </a:r>
          </a:p>
        </p:txBody>
      </p:sp>
      <p:sp>
        <p:nvSpPr>
          <p:cNvPr id="104" name="L4"/>
          <p:cNvSpPr/>
          <p:nvPr/>
        </p:nvSpPr>
        <p:spPr>
          <a:xfrm>
            <a:off x="400000" y="3550000"/>
            <a:ext cx="8200000" cy="600000"/>
          </a:xfrm>
          <a:prstGeom prst="rect">
            <a:avLst/>
          </a:prstGeom>
          <a:solidFill>
            <a:srgbClr val="0F2D4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HAL — BaseAxis / BaseDigitalIO / BaseCylinder + AjinFactory (Sim ↔ Ajin 자동 분기)</a:t>
            </a:r>
          </a:p>
        </p:txBody>
      </p:sp>
      <p:sp>
        <p:nvSpPr>
          <p:cNvPr id="105" name="d1"/>
          <p:cNvSpPr/>
          <p:nvPr/>
        </p:nvSpPr>
        <p:spPr>
          <a:xfrm>
            <a:off x="400000" y="1900000"/>
            <a:ext cx="8200000" cy="12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↓</a:t>
            </a:r>
          </a:p>
        </p:txBody>
      </p:sp>
      <p:sp>
        <p:nvSpPr>
          <p:cNvPr id="106" name="d2"/>
          <p:cNvSpPr/>
          <p:nvPr/>
        </p:nvSpPr>
        <p:spPr>
          <a:xfrm>
            <a:off x="400000" y="2650000"/>
            <a:ext cx="8200000" cy="12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↓</a:t>
            </a:r>
          </a:p>
        </p:txBody>
      </p:sp>
      <p:sp>
        <p:nvSpPr>
          <p:cNvPr id="107" name="d3"/>
          <p:cNvSpPr/>
          <p:nvPr/>
        </p:nvSpPr>
        <p:spPr>
          <a:xfrm>
            <a:off x="400000" y="3400000"/>
            <a:ext cx="8200000" cy="12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↓</a:t>
            </a:r>
          </a:p>
        </p:txBody>
      </p:sp>
      <p:sp>
        <p:nvSpPr>
          <p:cNvPr id="108" name="d4"/>
          <p:cNvSpPr/>
          <p:nvPr/>
        </p:nvSpPr>
        <p:spPr>
          <a:xfrm>
            <a:off x="400000" y="4300000"/>
            <a:ext cx="82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000" b="1" dirty="0">
                <a:solidFill>
                  <a:srgbClr val="333333"/>
                </a:solidFill>
                <a:latin typeface="Calibri"/>
                <a:ea typeface="맑은 고딕"/>
              </a:rPr>
              <a:t>UseAjin=true → AjinSystem.Open(IRQ) → P/Invoke AXL.dll  /  false → Sim* fallback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6 Unit 통합 (Stage 28~32)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Equipment Layer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사이클 파이프라인 (좌→우 단방향)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8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모든 Unit + 사이클 통합 (Stage 28~32)</a:t>
            </a:r>
          </a:p>
        </p:txBody>
      </p:sp>
      <p:sp>
        <p:nvSpPr>
          <p:cNvPr id="101" name="U1"/>
          <p:cNvSpPr/>
          <p:nvPr/>
        </p:nvSpPr>
        <p:spPr>
          <a:xfrm>
            <a:off x="300000" y="1300000"/>
            <a:ext cx="1300000" cy="9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① Input
Loader
(Stage 26)</a:t>
            </a:r>
          </a:p>
        </p:txBody>
      </p:sp>
      <p:sp>
        <p:nvSpPr>
          <p:cNvPr id="102" name="U2"/>
          <p:cNvSpPr/>
          <p:nvPr/>
        </p:nvSpPr>
        <p:spPr>
          <a:xfrm>
            <a:off x="1700000" y="1300000"/>
            <a:ext cx="1300000" cy="9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② Input
Stage
(Stage 28)</a:t>
            </a:r>
          </a:p>
        </p:txBody>
      </p:sp>
      <p:sp>
        <p:nvSpPr>
          <p:cNvPr id="103" name="U3"/>
          <p:cNvSpPr/>
          <p:nvPr/>
        </p:nvSpPr>
        <p:spPr>
          <a:xfrm>
            <a:off x="3100000" y="1300000"/>
            <a:ext cx="1300000" cy="9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③ Transfer
Picker
(Stage 29)</a:t>
            </a:r>
          </a:p>
        </p:txBody>
      </p:sp>
      <p:sp>
        <p:nvSpPr>
          <p:cNvPr id="104" name="U4"/>
          <p:cNvSpPr/>
          <p:nvPr/>
        </p:nvSpPr>
        <p:spPr>
          <a:xfrm>
            <a:off x="4500000" y="1300000"/>
            <a:ext cx="1300000" cy="9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④ Vision
Inspection
(Stage 31)</a:t>
            </a:r>
          </a:p>
        </p:txBody>
      </p:sp>
      <p:sp>
        <p:nvSpPr>
          <p:cNvPr id="105" name="U5"/>
          <p:cNvSpPr/>
          <p:nvPr/>
        </p:nvSpPr>
        <p:spPr>
          <a:xfrm>
            <a:off x="5900000" y="1300000"/>
            <a:ext cx="1300000" cy="900000"/>
          </a:xfrm>
          <a:prstGeom prst="rect">
            <a:avLst/>
          </a:prstGeom>
          <a:solidFill>
            <a:srgbClr val="59595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⑤ Output
Stage
(Stage 30)</a:t>
            </a:r>
          </a:p>
        </p:txBody>
      </p:sp>
      <p:sp>
        <p:nvSpPr>
          <p:cNvPr id="106" name="U6"/>
          <p:cNvSpPr/>
          <p:nvPr/>
        </p:nvSpPr>
        <p:spPr>
          <a:xfrm>
            <a:off x="7300000" y="1300000"/>
            <a:ext cx="1300000" cy="900000"/>
          </a:xfrm>
          <a:prstGeom prst="rect">
            <a:avLst/>
          </a:prstGeom>
          <a:solidFill>
            <a:srgbClr val="0F2D4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Calibri"/>
                <a:ea typeface="맑은 고딕"/>
              </a:rPr>
              <a:t>⑥ Output
Unloader
(Stage 27)</a:t>
            </a:r>
          </a:p>
        </p:txBody>
      </p:sp>
      <p:cxnSp>
        <p:nvCxnSpPr>
          <p:cNvPr id="107" name="a1"/>
          <p:cNvCxnSpPr/>
          <p:nvPr/>
        </p:nvCxnSpPr>
        <p:spPr>
          <a:xfrm>
            <a:off x="1600000" y="1750000"/>
            <a:ext cx="1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8" name="a2"/>
          <p:cNvCxnSpPr/>
          <p:nvPr/>
        </p:nvCxnSpPr>
        <p:spPr>
          <a:xfrm>
            <a:off x="3000000" y="1750000"/>
            <a:ext cx="1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9" name="a3"/>
          <p:cNvCxnSpPr/>
          <p:nvPr/>
        </p:nvCxnSpPr>
        <p:spPr>
          <a:xfrm>
            <a:off x="4400000" y="1750000"/>
            <a:ext cx="1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10" name="a4"/>
          <p:cNvCxnSpPr/>
          <p:nvPr/>
        </p:nvCxnSpPr>
        <p:spPr>
          <a:xfrm>
            <a:off x="5800000" y="1750000"/>
            <a:ext cx="1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11" name="a5"/>
          <p:cNvCxnSpPr/>
          <p:nvPr/>
        </p:nvCxnSpPr>
        <p:spPr>
          <a:xfrm>
            <a:off x="7200000" y="1750000"/>
            <a:ext cx="100000" cy="1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12" name="t1"/>
          <p:cNvSpPr/>
          <p:nvPr/>
        </p:nvSpPr>
        <p:spPr>
          <a:xfrm>
            <a:off x="300000" y="2400000"/>
            <a:ext cx="84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950" b="1" dirty="0">
                <a:solidFill>
                  <a:srgbClr val="333333"/>
                </a:solidFill>
                <a:latin typeface="Calibri"/>
                <a:ea typeface="맑은 고딕"/>
              </a:rPr>
              <a:t>단위층 — 각 Unit 의 메서드는 사이클 통합 전부터 정의됨 (LoadAndPrepare/Pickup/Receive 등)</a:t>
            </a:r>
          </a:p>
        </p:txBody>
      </p:sp>
      <p:sp>
        <p:nvSpPr>
          <p:cNvPr id="113" name="L1"/>
          <p:cNvSpPr/>
          <p:nvPr/>
        </p:nvSpPr>
        <p:spPr>
          <a:xfrm>
            <a:off x="3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800">
                <a:solidFill>
                  <a:srgbClr val="333333"/>
                </a:solidFill>
                <a:latin typeface="Calibri"/>
                <a:ea typeface="맑은 고딕"/>
              </a:rPr>
              <a:t>ScanCassette
MoveToTargetSlot
MoveToExchange
RetractFeeder</a:t>
            </a:r>
          </a:p>
        </p:txBody>
      </p:sp>
      <p:sp>
        <p:nvSpPr>
          <p:cNvPr id="114" name="L2"/>
          <p:cNvSpPr/>
          <p:nvPr/>
        </p:nvSpPr>
        <p:spPr>
          <a:xfrm>
            <a:off x="17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750">
                <a:solidFill>
                  <a:srgbClr val="333333"/>
                </a:solidFill>
                <a:latin typeface="Calibri"/>
                <a:ea typeface="맑은 고딕"/>
              </a:rPr>
              <a:t>LoadAndPrepare
VisionAlignAndSetupOrigin
MultiScanAndPickup
UnloadWafer</a:t>
            </a:r>
          </a:p>
        </p:txBody>
      </p:sp>
      <p:sp>
        <p:nvSpPr>
          <p:cNvPr id="115" name="L3"/>
          <p:cNvSpPr/>
          <p:nvPr/>
        </p:nvSpPr>
        <p:spPr>
          <a:xfrm>
            <a:off x="31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800">
                <a:solidFill>
                  <a:srgbClr val="333333"/>
                </a:solidFill>
                <a:latin typeface="Calibri"/>
                <a:ea typeface="맑은 고딕"/>
              </a:rPr>
              <a:t>ArmX/ArmY 이동
PickerComponent
Pickup/Place
4-Picker 동시</a:t>
            </a:r>
          </a:p>
        </p:txBody>
      </p:sp>
      <p:sp>
        <p:nvSpPr>
          <p:cNvPr id="116" name="L4"/>
          <p:cNvSpPr/>
          <p:nvPr/>
        </p:nvSpPr>
        <p:spPr>
          <a:xfrm>
            <a:off x="45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800">
                <a:solidFill>
                  <a:srgbClr val="333333"/>
                </a:solidFill>
                <a:latin typeface="Calibri"/>
                <a:ea typeface="맑은 고딕"/>
              </a:rPr>
              <a:t>InspectBottom
(4 picker)
InspectSide
(4면)</a:t>
            </a:r>
          </a:p>
        </p:txBody>
      </p:sp>
      <p:sp>
        <p:nvSpPr>
          <p:cNvPr id="117" name="L5"/>
          <p:cNvSpPr/>
          <p:nvPr/>
        </p:nvSpPr>
        <p:spPr>
          <a:xfrm>
            <a:off x="59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800">
                <a:solidFill>
                  <a:srgbClr val="333333"/>
                </a:solidFill>
                <a:latin typeface="Calibri"/>
                <a:ea typeface="맑은 고딕"/>
              </a:rPr>
              <a:t>ReceiveDie
(Good/Ng 분류)
InspectBin
(안착 검사)</a:t>
            </a:r>
          </a:p>
        </p:txBody>
      </p:sp>
      <p:sp>
        <p:nvSpPr>
          <p:cNvPr id="118" name="L6"/>
          <p:cNvSpPr/>
          <p:nvPr/>
        </p:nvSpPr>
        <p:spPr>
          <a:xfrm>
            <a:off x="7300000" y="2900000"/>
            <a:ext cx="1300000" cy="110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750">
                <a:solidFill>
                  <a:srgbClr val="333333"/>
                </a:solidFill>
                <a:latin typeface="Calibri"/>
                <a:ea typeface="맑은 고딕"/>
              </a:rPr>
              <a:t>ScanAllCassettes
StoreFullWafer
SupplyEmptyWafer
ExchangeWafer</a:t>
            </a:r>
          </a:p>
        </p:txBody>
      </p:sp>
      <p:sp>
        <p:nvSpPr>
          <p:cNvPr id="119" name="t2"/>
          <p:cNvSpPr/>
          <p:nvPr/>
        </p:nvSpPr>
        <p:spPr>
          <a:xfrm>
            <a:off x="300000" y="4200000"/>
            <a:ext cx="8400000" cy="3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000" b="1" dirty="0">
                <a:solidFill>
                  <a:srgbClr val="ED7D31"/>
                </a:solidFill>
                <a:latin typeface="Calibri"/>
                <a:ea typeface="맑은 고딕"/>
              </a:rPr>
              <a:t>이벤트 — 매 8 다이마다 Output 적재, 매 24 다이마다 Collet Cleaning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3.2 Unit 별 상세 (1)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InputLoader / InputStage / TransferPicker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InputLoaderUnit (Stage 26~28)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축: ElevatorZ (axis 0) / FeederY (axis 1)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실린더: FeederUpDownCyl / FeederClampCyl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센서: CassetteExist / Protrusion / WaferDetect / WaferClamped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메서드: ScanCassetteAsync / MoveToTargetSlotAsync / MoveToExchangePositionAsync / RetractFeederAsync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InputStageUnit (Stage 28)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축: StageY(2) / StageT(3) / ExpanderZ(4) / CameraX(5) / NeedleBlockX(6) / NeedleZ(7)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DO: NeedleVacuum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메서드: LoadAndPrepareWaferAsync (ExpanderZ Down + 바코드 + 맵 로드)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VisionAlignAndSetupOriginAsync (Theta 보정 + Origin 확정)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MultiScanAndPickupAsync / UnloadWaferAsync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TransferPickerUnit (Stage 29)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LeftArm (front): ArmX(9)/ArmY(10) + 4 Pickers (T11/Z12, T13/Z14, T15/Z16, T17/Z18)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RightArm (rear): ArmX(21)/ArmY(22) + 4 Pickers (T23/Z24 ~ T29/Z30)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각 Picker: PickupAsync (PickerZ Down + Vacuum) / PlaceAsync / MoveToFocusAsync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TpuArmUnit: InspectBottomVisionAsync / InspectSideVisionAsync / PlaceDiesAsync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3.3 Unit 별 상세 (2)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10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Vision / OutputStage / OutputUnloader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VisionInspectionUnit (Stage 31)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TpuArmUnit 위임 (4 picker bottom 비전 + 4면 side 비전)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VisionHub.Inspection 미연결 시 sim fallback (skip)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Bottom Picker1 OffsetX/Y → ReceiveDieRequest.VisionOffsetX/Y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Side Picker1 IsAllOk → inspPass 반영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OutputStageUnit (Stage 30)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GoodStage (StageY/StageZ) + NgStage (StageY/StageZ)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BinCameraX (axis 34) — 안착 검사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메서드: ReceiveDieAsync (충돌 회피 + Z up + Y 이동)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InspectBinPositionAsync (TPU 완료 대기 + 비전 검사)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RequestWaferChangeAsync (Unloader 위임)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PerformColletCleaningAsync (NgStage 더미 영역)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OutputUnloaderUnit (Stage 27)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축: ElevatorZ (axis 36) / FeederY (axis 35)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3 카세트: NG / Good1 / Good2 (각 25 슬롯)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메서드: ScanAllCassettesAsync (75 슬롯 스캔)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StoreFullWaferAsync (target, slotIndex)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         SupplyEmptyWaferAsync / ExchangeWaferSequenceAsync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통신 + 인터락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Communications &amp; Safety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6 Vision 채널 + 시리얼 (매뉴얼 호환)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12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Stage 43 추가 채널</a:t>
            </a:r>
          </a:p>
        </p:txBody>
      </p:sp>
      <p:sp>
        <p:nvSpPr>
          <p:cNvPr id="101" name="c1"/>
          <p:cNvSpPr/>
          <p:nvPr/>
        </p:nvSpPr>
        <p:spPr>
          <a:xfrm>
            <a:off x="300000" y="1300000"/>
            <a:ext cx="2700000" cy="6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5100 Wafer Vision (matching/align)</a:t>
            </a:r>
          </a:p>
        </p:txBody>
      </p:sp>
      <p:sp>
        <p:nvSpPr>
          <p:cNvPr id="102" name="c2"/>
          <p:cNvSpPr/>
          <p:nvPr/>
        </p:nvSpPr>
        <p:spPr>
          <a:xfrm>
            <a:off x="300000" y="1950000"/>
            <a:ext cx="2700000" cy="6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5101 Inspection (Bottom)</a:t>
            </a:r>
          </a:p>
        </p:txBody>
      </p:sp>
      <p:sp>
        <p:nvSpPr>
          <p:cNvPr id="103" name="c3"/>
          <p:cNvSpPr/>
          <p:nvPr/>
        </p:nvSpPr>
        <p:spPr>
          <a:xfrm>
            <a:off x="300000" y="2600000"/>
            <a:ext cx="2700000" cy="600000"/>
          </a:xfrm>
          <a:prstGeom prst="rect">
            <a:avLst/>
          </a:prstGeom>
          <a:solidFill>
            <a:srgbClr val="5B9BD5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5103 Bin Vision (안착)</a:t>
            </a:r>
          </a:p>
        </p:txBody>
      </p:sp>
      <p:sp>
        <p:nvSpPr>
          <p:cNvPr id="104" name="c4"/>
          <p:cNvSpPr/>
          <p:nvPr/>
        </p:nvSpPr>
        <p:spPr>
          <a:xfrm>
            <a:off x="3100000" y="1300000"/>
            <a:ext cx="2700000" cy="6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5104 Main Communicator (NEW)</a:t>
            </a:r>
          </a:p>
        </p:txBody>
      </p:sp>
      <p:sp>
        <p:nvSpPr>
          <p:cNvPr id="105" name="c5"/>
          <p:cNvSpPr/>
          <p:nvPr/>
        </p:nvSpPr>
        <p:spPr>
          <a:xfrm>
            <a:off x="3100000" y="1950000"/>
            <a:ext cx="2700000" cy="6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5105 Top Side Inspection (NEW)</a:t>
            </a:r>
          </a:p>
        </p:txBody>
      </p:sp>
      <p:sp>
        <p:nvSpPr>
          <p:cNvPr id="106" name="c6"/>
          <p:cNvSpPr/>
          <p:nvPr/>
        </p:nvSpPr>
        <p:spPr>
          <a:xfrm>
            <a:off x="3100000" y="2600000"/>
            <a:ext cx="2700000" cy="600000"/>
          </a:xfrm>
          <a:prstGeom prst="rect">
            <a:avLst/>
          </a:prstGeom>
          <a:solidFill>
            <a:srgbClr val="ED7D31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5106 Bottom Side Inspection (NEW)</a:t>
            </a:r>
          </a:p>
        </p:txBody>
      </p:sp>
      <p:sp>
        <p:nvSpPr>
          <p:cNvPr id="107" name="s1"/>
          <p:cNvSpPr/>
          <p:nvPr/>
        </p:nvSpPr>
        <p:spPr>
          <a:xfrm>
            <a:off x="5900000" y="1300000"/>
            <a:ext cx="2700000" cy="6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Serial Port 4 — Wafer Barcode</a:t>
            </a:r>
          </a:p>
        </p:txBody>
      </p:sp>
      <p:sp>
        <p:nvSpPr>
          <p:cNvPr id="108" name="s2"/>
          <p:cNvSpPr/>
          <p:nvPr/>
        </p:nvSpPr>
        <p:spPr>
          <a:xfrm>
            <a:off x="5900000" y="1950000"/>
            <a:ext cx="2700000" cy="6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Serial Port 6 — Bin Barcode</a:t>
            </a:r>
          </a:p>
        </p:txBody>
      </p:sp>
      <p:sp>
        <p:nvSpPr>
          <p:cNvPr id="109" name="se"/>
          <p:cNvSpPr/>
          <p:nvPr/>
        </p:nvSpPr>
        <p:spPr>
          <a:xfrm>
            <a:off x="5900000" y="2600000"/>
            <a:ext cx="2700000" cy="600000"/>
          </a:xfrm>
          <a:prstGeom prst="rect">
            <a:avLst/>
          </a:prstGeom>
          <a:solidFill>
            <a:srgbClr val="59595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SECS/HSMS Port 5000 (S6F11/S5F1)</a:t>
            </a:r>
          </a:p>
        </p:txBody>
      </p:sp>
      <p:sp>
        <p:nvSpPr>
          <p:cNvPr id="110" name="lab"/>
          <p:cNvSpPr/>
          <p:nvPr/>
        </p:nvSpPr>
        <p:spPr>
          <a:xfrm>
            <a:off x="300000" y="3450000"/>
            <a:ext cx="8400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 indent="0" marL="0">
              <a:buNone/>
            </a:pPr>
            <a:r>
              <a:rPr lang="ko-KR" sz="1000" b="1" dirty="0">
                <a:solidFill>
                  <a:srgbClr val="375623"/>
                </a:solidFill>
                <a:latin typeface="Calibri"/>
                <a:ea typeface="맑은 고딕"/>
              </a:rPr>
              <a:t>모든 채널은 미연결 시 sim fallback — 단독 sim 검증 가능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4.2 25 Interlock 등록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13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Stage 3 + 8 + 23 + 25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5 Standard (Stage 3 — ExtendedInterlocks.cs)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EjectVsLoaderInterlock / LoaderVsStageInterlock / UnloaderVsStageInterlock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EjectPickerVsBinInterlock / BinGuideVsBinFeederInterlock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5 Extended (Stage 8 — ExtendedInterlocks2.cs)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LifterVsExpanderInterlock / BarcodeVsLoaderInterlock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SubPortVsPickerInterlock / ColletCleanerVsPickerInterlock / EmgStopVsAllInterlock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5 ExtendedInterlocks3 (Stage 25)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DoorVsAllInterlock / WaferVisionZVsStageLifterInterlock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VacuumVsPickerInterlock / BinLidVsBinVisionInterlock / ServoOffInterlock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10 추가 (Stage 23 — 누적 25)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InterlockRegistry.VerifyMove(axisName, position, out reason)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차단 시 AlarmManager.Raise + false 반환 + 로그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Feeder 측 인터락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MoveElevatorWithProtrusionGuardAsync — 10ms ProtrusionSensor 폴링 + 즉시 EStop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§5. 결론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5.1 설계 완성도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15 / 15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매뉴얼 사양 + 32 Stage 확장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매뉴얼 호환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CDT-310 통신 6채널 (5100-5106) — Stage 43 추가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Wafer/Bin Barcode 시리얼 — Stage 43 추가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37 axis + 80+ DI/DO — Simulator IoMap 호환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4-Layer 아키텍처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UI / Controller / Equipment / HAL — 각 layer 독립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AjinFactory.Ready 검사 — 안전 fallback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6 Unit 사이클 통합 (Stage 27~32)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InputLoader → InputStage → TPU → Vision → OutputStage → OutputUnloader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모든 Unit 의 사이클 호출 경로 활성 + 종단 검증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검증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verify_all 117/118 PASS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50 다이 — Yield 92% / ALARM 0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Lot JSON 자동 저장 16+ 개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15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System Architecture &amp; Design Document</dc:subject>
  <dc:creator>QMC Engineering</dc:creator>
  <cp:lastModifiedBy>QMC Engineering</cp:lastModifiedBy>
  <cp:revision>1</cp:revision>
  <dcterms:created xsi:type="dcterms:W3CDTF">2026-04-29T10:23:40Z</dcterms:created>
  <dcterms:modified xsi:type="dcterms:W3CDTF">2026-04-29T10:23:40Z</dcterms:modified>
</cp:coreProperties>
</file>