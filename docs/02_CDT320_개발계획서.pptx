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 <Relationship Id="rId2" Type="http://schemas.openxmlformats.org/officeDocument/2006/relationships/slide" Target="slides/slide1.xml"/>
  <Relationship Id="rId3" Type="http://schemas.openxmlformats.org/officeDocument/2006/relationships/slide" Target="slides/slide2.xml"/>
  <Relationship Id="rId4" Type="http://schemas.openxmlformats.org/officeDocument/2006/relationships/slide" Target="slides/slide3.xml"/>
  <Relationship Id="rId5" Type="http://schemas.openxmlformats.org/officeDocument/2006/relationships/slide" Target="slides/slide4.xml"/>
  <Relationship Id="rId6" Type="http://schemas.openxmlformats.org/officeDocument/2006/relationships/slide" Target="slides/slide5.xml"/>
  <Relationship Id="rId7" Type="http://schemas.openxmlformats.org/officeDocument/2006/relationships/slide" Target="slides/slide6.xml"/>
  <Relationship Id="rId8" Type="http://schemas.openxmlformats.org/officeDocument/2006/relationships/slide" Target="slides/slide7.xml"/>
  <Relationship Id="rId9" Type="http://schemas.openxmlformats.org/officeDocument/2006/relationships/slide" Target="slides/slide8.xml"/>
  <Relationship Id="rId10" Type="http://schemas.openxmlformats.org/officeDocument/2006/relationships/slide" Target="slides/slide9.xml"/>
  <Relationship Id="rId11" Type="http://schemas.openxmlformats.org/officeDocument/2006/relationships/slide" Target="slides/slide10.xml"/>
  <Relationship Id="rId12" Type="http://schemas.openxmlformats.org/officeDocument/2006/relationships/slide" Target="slides/slide11.xml"/>
  <Relationship Id="rId13" Type="http://schemas.openxmlformats.org/officeDocument/2006/relationships/slide" Target="slides/slide12.xml"/>
  <Relationship Id="rId14" Type="http://schemas.openxmlformats.org/officeDocument/2006/relationships/theme" Target="theme/theme1.xml"/>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Title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5400" b="1" dirty="0">
                <a:solidFill>
                  <a:srgbClr val="0F2D4F"/>
                </a:solidFill>
                <a:latin typeface="Calibri"/>
                <a:ea typeface="맑은 고딕"/>
              </a:rPr>
              <a:t>CDT-320</a:t>
            </a:r>
          </a:p>
        </p:txBody>
      </p:sp>
      <p:sp>
        <p:nvSpPr>
          <p:cNvPr id="3" name="MainSubtitle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3000" b="1" dirty="0">
                <a:solidFill>
                  <a:srgbClr val="0F2D4F"/>
                </a:solidFill>
                <a:latin typeface="Calibri"/>
                <a:ea typeface="맑은 고딕"/>
              </a:rPr>
              <a:t>Development Plan</a:t>
            </a:r>
          </a:p>
        </p:txBody>
      </p:sp>
      <p:sp>
        <p:nvSpPr>
          <p:cNvPr id="4" name="OrangeStripe"/>
          <p:cNvSpPr/>
          <p:nvPr/>
        </p:nvSpPr>
        <p:spPr>
          <a:xfrm>
            <a:off x="3840480" y="2103120"/>
            <a:ext cx="1463040" cy="36576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" name="WhiteBox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500" i="1" dirty="0">
                <a:solidFill>
                  <a:srgbClr val="1F4E79"/>
                </a:solidFill>
                <a:latin typeface="Calibri"/>
                <a:ea typeface="맑은 고딕"/>
              </a:rPr>
              <a:t>Development Plan — 32 Stage 종합 (매뉴얼 호환)</a:t>
            </a:r>
          </a:p>
        </p:txBody>
      </p:sp>
      <p:sp>
        <p:nvSpPr>
          <p:cNvPr id="6" name="SubmitBox"/>
          <p:cNvSpPr/>
          <p:nvPr/>
        </p:nvSpPr>
        <p:spPr>
          <a:xfrm>
            <a:off x="2286000" y="3749040"/>
            <a:ext cx="457200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1F4E79"/>
            </a:solidFill>
          </a:ln>
        </p:spPr>
      </p:sp>
      <p:sp>
        <p:nvSpPr>
          <p:cNvPr id="7" name="SubmittedTo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/>
              </a:rPr>
              <a:t>Submitted to : ASE</a:t>
            </a:r>
          </a:p>
        </p:txBody>
      </p:sp>
      <p:sp>
        <p:nvSpPr>
          <p:cNvPr id="8" name="DateLabel"/>
          <p:cNvSpPr/>
          <p:nvPr/>
        </p:nvSpPr>
        <p:spPr>
          <a:xfrm>
            <a:off x="228600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/>
              </a:rPr>
              <a:t>2026. 04. 29</a:t>
            </a:r>
          </a:p>
        </p:txBody>
      </p:sp>
      <p:pic>
        <p:nvPicPr>
          <p:cNvPr id="9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645152"/>
            <a:ext cx="1280160" cy="292608"/>
          </a:xfrm>
          <a:prstGeom prst="rect">
            <a:avLst/>
          </a:prstGeom>
        </p:spPr>
      </p:pic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§1. 프로젝트 목표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Project 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1.1 목표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3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비전 + 비기능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비전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CDT-300 시리즈 다이 트랜스퍼 핸들러를 .NET 4.7.2 / WinForms 로 재구현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Vision PC + 3D 시뮬레이터 통합 — sim 모드 단독 검증 가능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AJINEXTEK AXL 실보드 + Sim 자동 분기 — 1 binary 양쪽 지원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매뉴얼 3종 (CDT-300 + CDT-310 + Vision) 사양 호환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비기능 요구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1920x1080 CDT-300 스타일 UI / 다국어 (ko/en/zh-CN/ja)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5단계 사용자 권한 (None/Operator/Engineer/Maintenance/Admin)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회귀 테스트 자동화 — verify_all 117+ 항목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auto-cycle CLI — 무인 사이클 N 다이 + Lot JSON 저장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SECS/GEM 표준 호스트 통신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산출물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QMC.CDT-320.exe + QMC.Vision.exe + CDT320Simulator.exe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tools/ — Perl + PowerShell 25+ 검증 스크립트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문서/ — 설계도 + 계획서 + 체크리스트 PPT 3종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Markdown — Master + Stage 계획 + Overnight Report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§2. 32 Stage 로드맵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Development Stages 1~32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2.1 Stage 1~10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5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820040" y="1188720"/>
            <a:ext cx="44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주요 산출물</a:t>
            </a:r>
          </a:p>
        </p:txBody>
      </p:sp>
      <p:sp>
        <p:nvSpPr>
          <p:cNvPr id="104" name="H3"/>
          <p:cNvSpPr/>
          <p:nvPr/>
        </p:nvSpPr>
        <p:spPr>
          <a:xfrm>
            <a:off x="82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6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7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8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UI 연결 + Recipe Subset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820040" y="15087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DieMap/MaterialBin/4 Subset/Self-Test 5종/Lang.cs i18n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82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25/25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SPC + Editors + Zoom + Cognex 진단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820040" y="18288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SpcChartPage/ParameterEditor 5종/ZoomDialog/Cognex 진단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82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10/10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 + Reject + 5 Interlock + HSMS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820040" y="214884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RemoteViewer/Ionizer/Reject/Lot/Ext.Interlocks/HSMS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82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9/9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RemoteViewerDialog + ActiveLot + UseHsms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820040" y="246888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Dialog/ActiveLotPage/UseHsms 듀얼/S6F11/Cognex Test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82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11/11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GUI Cycle 자동화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820040" y="278892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tools/gui_cycle_automation.ps1 (UIA + i18n)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82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Cognex Caliper / Histogram / ColorMatch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820040" y="310896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CognexCaliper/Histogram/ColorMatch + IEdgeFinder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82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11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SECS 13 표준 메시지 + AlarmManager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3820040" y="342900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S1F1~S9F5 헬퍼 + AlarmManager → S5F1 자동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82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1120040" y="374904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추가 5 Interlock (총 15)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3820040" y="374904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ExtendedInterlocks2 — Lifter/Barcode/SubPort/Cleaner/EStop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82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1120040" y="406908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문서화 (1차)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3820040" y="406908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README / ARCHITECTURE / USER_GUIDE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82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1120040" y="438912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정적 Audit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3820040" y="438912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audit_threading.pl / audit_memory.pl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82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2.2 Stage 11~20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6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820040" y="1188720"/>
            <a:ext cx="44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주요 산출물</a:t>
            </a:r>
          </a:p>
        </p:txBody>
      </p:sp>
      <p:sp>
        <p:nvSpPr>
          <p:cNvPr id="104" name="H3"/>
          <p:cNvSpPr/>
          <p:nvPr/>
        </p:nvSpPr>
        <p:spPr>
          <a:xfrm>
            <a:off x="82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11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12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13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14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15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16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17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18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19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20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i18n 중국어 zh-CN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820040" y="15087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Lang.Zh + RegisterChinese 50+ 키 + Z()/T() 헬퍼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82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i18n 일본어 + AlarmMaster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820040" y="18288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Lang.Ja + AlarmCategory 8종 + AlarmDefinition 18 정의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82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DryRun / StepRun 운영 모드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820040" y="214884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MachineController.DryRun/StepRun + StepRunGate + ApplyMode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82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Coordinate Map (3-point Alignment)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820040" y="246888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AlignmentSolver/CoordinateMap/Cognex stdev 0.037 sub-pixel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82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GUI 자동화 ASCII-only PS1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820040" y="278892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PowerShell ANSI 호환 한글→ASCII + UIA 안정화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82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3/4 (1 SKIP)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Material 추적 + SecsItem 팩토리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820040" y="310896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Die/DieTapeFrame/MaterialStorage + SecsItem 9 Format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82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11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Remote Viewer TCP 화면 캡처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3820040" y="342900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tools/remote_viewer_client.ps1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82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1/1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1120040" y="374904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자가진단 (SystemSelfTest)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3820040" y="374904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SystemSelfTestDialog (5 진단) + runtime_cycle_test.pl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82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1120040" y="406908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AlarmMaster 페이지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3820040" y="406908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AlarmMasterPage (DataGrid+Save+카테고리) + Raise lookup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82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1120040" y="438912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Pick Retry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3820040" y="438912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DoOneDieAsync 비전 매치 3회 재시도 + Backoff (50→100→200ms)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82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2.3 Stage 21~32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7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820040" y="1188720"/>
            <a:ext cx="44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주요 산출물</a:t>
            </a:r>
          </a:p>
        </p:txBody>
      </p:sp>
      <p:sp>
        <p:nvSpPr>
          <p:cNvPr id="104" name="H3"/>
          <p:cNvSpPr/>
          <p:nvPr/>
        </p:nvSpPr>
        <p:spPr>
          <a:xfrm>
            <a:off x="82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21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22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23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24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25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26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27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28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29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30</a:t>
            </a:r>
          </a:p>
        </p:txBody>
      </p:sp>
      <p:sp>
        <p:nvSpPr>
          <p:cNvPr id="115" name="C10_0"/>
          <p:cNvSpPr/>
          <p:nvPr/>
        </p:nvSpPr>
        <p:spPr>
          <a:xfrm>
            <a:off x="320040" y="47091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31</a:t>
            </a:r>
          </a:p>
        </p:txBody>
      </p:sp>
      <p:sp>
        <p:nvSpPr>
          <p:cNvPr id="116" name="C11_0"/>
          <p:cNvSpPr/>
          <p:nvPr/>
        </p:nvSpPr>
        <p:spPr>
          <a:xfrm>
            <a:off x="320040" y="50292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32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BinCodeMap NG → bin → color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820040" y="15087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BinCodeMap.ConvertToBinCode/ConvertToBinCodeColor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82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JobOrder + JobQueue + DieMap CSV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820040" y="18288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JobOrder/JobQueue (Pending+History) + DieMapGenerator.LoadCsv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82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 Interlock 등록 + 알람 다국어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820040" y="214884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InterlockRegistry 25개 + Title/Cause/ActionEn + Lang.Current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82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--auto-cycle N CLI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820040" y="246888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Program.cs CLI + Init→CycleRun(N)→Lot JSON→종료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82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ExtendedInterlocks3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820040" y="278892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Door/WaferZ vs Lifter/Vacuum vs Picker/BinLid/ServoOff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82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UI Polish + LotPort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820040" y="310896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Lang.Apply Tag/Anchor/사이드바 통합/LotPort 5항목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82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11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Feeder 통합 + 4 GAP fix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3820040" y="342900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StoreCompletedWafer/OutputUnloader/Input·OutputFeederPage+GAP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82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1120040" y="374904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InputStageUnit 통합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3820040" y="374904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WaferLoaderAdapter + LoadAndPrepare→Retract→VisionAlign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82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6/6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1120040" y="406908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TransferPickerUnit 통합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3820040" y="406908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front.Pickers[0].Pickup/Place + TpuArm SoftLimit (1600/350)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82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1120040" y="438912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OutputStageUnit 통합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3820040" y="438912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DoOneDie Place→Receive (Grade+VisionOff) + InspectBinPos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82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31" name="FillCell_10_1"/>
          <p:cNvSpPr/>
          <p:nvPr/>
        </p:nvSpPr>
        <p:spPr>
          <a:xfrm>
            <a:off x="1120040" y="47091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VisionInspection 통합</a:t>
            </a:r>
          </a:p>
        </p:txBody>
      </p:sp>
      <p:sp>
        <p:nvSpPr>
          <p:cNvPr id="5032" name="FillCell_10_2"/>
          <p:cNvSpPr/>
          <p:nvPr/>
        </p:nvSpPr>
        <p:spPr>
          <a:xfrm>
            <a:off x="3820040" y="47091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InspectBottom (4-picker) + Side (4면) + sim fallback</a:t>
            </a:r>
          </a:p>
        </p:txBody>
      </p:sp>
      <p:sp>
        <p:nvSpPr>
          <p:cNvPr id="5033" name="FillCell_10_3"/>
          <p:cNvSpPr/>
          <p:nvPr/>
        </p:nvSpPr>
        <p:spPr>
          <a:xfrm>
            <a:off x="8220040" y="47091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34" name="FillCell_11_1"/>
          <p:cNvSpPr/>
          <p:nvPr/>
        </p:nvSpPr>
        <p:spPr>
          <a:xfrm>
            <a:off x="1120040" y="50292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설비 라이프사이클</a:t>
            </a:r>
          </a:p>
        </p:txBody>
      </p:sp>
      <p:sp>
        <p:nvSpPr>
          <p:cNvPr id="5035" name="FillCell_11_2"/>
          <p:cNvSpPr/>
          <p:nvPr/>
        </p:nvSpPr>
        <p:spPr>
          <a:xfrm>
            <a:off x="3820040" y="50292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ShutdownAsync (사이클정지+Stop+Lot Close+Save) + EmergencyStop</a:t>
            </a:r>
          </a:p>
        </p:txBody>
      </p:sp>
      <p:sp>
        <p:nvSpPr>
          <p:cNvPr id="5036" name="FillCell_11_3"/>
          <p:cNvSpPr/>
          <p:nvPr/>
        </p:nvSpPr>
        <p:spPr>
          <a:xfrm>
            <a:off x="8220040" y="50292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§3. 매뉴얼 사양 보강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Stage 43+ 매뉴얼 호환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3.1 매뉴얼 추가 사항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9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CDT-310 매뉴얼 사양 호환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통신 채널 6종 (5100-5106)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5100 Wafer Vision (이미 구현)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5101 Inspection (이미 구현)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5103 Bin Vision (이미 구현)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5104 Main Communicator (Stage 43 추가)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5105 TopSide Inspection Vision (Stage 43 추가)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5106 BottomSide Inspection Vision (Stage 43 추가)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시리얼 포트 2종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Port 4 — Wafer Barcode Communicator (Stage 43)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Port 6 — Bin Barcode Communicator (Stage 43)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BarcodeSerialAdapter 신규 — IBarcodeReader 어댑터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SimulatorBridge IO 매핑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Simulator IoMap 64+ DI / 80+ DO 호환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MotionMap 37 axes (0~36) 매핑 (Stage 19/20 SideVision Y는 미대응 — 차후 확장)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미반영 항목 (다음 라운드 후보)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TopSide 카메라 모듈 (QMC.Vision)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BottomSide 카메라 모듈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Eject Pin Z 축 (sim axis 8)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Side Vision Y 축 (sim axis 19, 20)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§4. 일정 + 위험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Schedule &amp;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4.1 위험 매트릭스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11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위험</a:t>
            </a:r>
          </a:p>
        </p:txBody>
      </p:sp>
      <p:sp>
        <p:nvSpPr>
          <p:cNvPr id="102" name="H1"/>
          <p:cNvSpPr/>
          <p:nvPr/>
        </p:nvSpPr>
        <p:spPr>
          <a:xfrm>
            <a:off x="3020040" y="1188720"/>
            <a:ext cx="11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영향</a:t>
            </a:r>
          </a:p>
        </p:txBody>
      </p:sp>
      <p:sp>
        <p:nvSpPr>
          <p:cNvPr id="103" name="H2"/>
          <p:cNvSpPr/>
          <p:nvPr/>
        </p:nvSpPr>
        <p:spPr>
          <a:xfrm>
            <a:off x="4120040" y="1188720"/>
            <a:ext cx="11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확률</a:t>
            </a:r>
          </a:p>
        </p:txBody>
      </p:sp>
      <p:sp>
        <p:nvSpPr>
          <p:cNvPr id="104" name="H3"/>
          <p:cNvSpPr/>
          <p:nvPr/>
        </p:nvSpPr>
        <p:spPr>
          <a:xfrm>
            <a:off x="5220040" y="1188720"/>
            <a:ext cx="36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대응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Ajin DLL 미로드 (AXL-OPEN, AXL-DLL)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Vision PC 통신 단절 (VISION-CONN)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카세트 만석 (OUT-FULL-GOOD/NG)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E-Stop / Door 인터락 (E-STOP, EMG-PRESSED)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돌출 센서 트리거 (OUT-STORE-EX)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모션 인터락 위반 (INTERLOCK)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Output Unloader 적재 실패 (OUT-STORE)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3020040" y="150876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Critical — 전체 정지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4120040" y="150876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5220040" y="150876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AjinFactory Sim fallback (BaseAxis → SimAxis)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3020040" y="182880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사이클 정지 (5100/5101/5103/5104~5106)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4120040" y="182880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중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5220040" y="1828800"/>
            <a:ext cx="36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VisionTcpClient 재연결 + AlarmRaised 이벤트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3020040" y="214884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사이클 정지 (정상 종점)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4120040" y="214884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정상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5220040" y="214884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Good1↔Good2 자동 전환 + 양측 만재시 _cycleCts.Cancel()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3020040" y="246888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즉시 정지 (모든 축 EStop + Critical)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4120040" y="246888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5220040" y="2468880"/>
            <a:ext cx="36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EmergencyStopAsync (Stage 32)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3020040" y="278892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충돌 위험 — 육안 확인 필요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4120040" y="278892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5220040" y="278892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10ms 폴링 + 즉시 EStop / Protrusion Guard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3020040" y="310896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사이클 정지 (9건 모션 인터락)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4120040" y="310896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중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5220040" y="3108960"/>
            <a:ext cx="36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InterlockRegistry.VerifyMove + 안전위치 이동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3020040" y="342900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Wafer 적재 누락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4120040" y="342900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5220040" y="342900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StoreFullWaferAsync 실패 → Error 알람 후 재시도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4.2 검증 게이트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12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Pass 조건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빌드 게이트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G1 — Build clean (warning 0, error 0)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G2 — verify_all 117/118 PASS (회귀 무결성)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런타임 게이트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G3 — auto-cycle 4/16/24/30/50 다이 정상 종료 (ALARM 0)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G4 — Lot JSON 자동 저장 + BinDistribution 정상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G5 — 6 Unit 모두 사이클 호출 경로 활성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정직 audit 게이트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G6 — 'Stage X 완료' 보고 후 사용자 재점검 시 GAP 식별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G7 — 발견된 GAP 모두 fix 적용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G8 — 매뉴얼 사양 vs 구현 대조 — 누락 식별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MC Theme">
  <a:themeElements>
    <a:clrScheme name="QMC">
      <a:dk1>
        <a:sysClr val="windowText" lastClr="000000"/>
      </a:dk1>
      <a:lt1>
        <a:sysClr val="window" lastClr="FFFFFF"/>
      </a:lt1>
      <a:dk2>
        <a:srgbClr val="0F2D4F"/>
      </a:dk2>
      <a:lt2>
        <a:srgbClr val="F2F2F2"/>
      </a:lt2>
      <a:accent1>
        <a:srgbClr val="1F4E7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MC">
      <a:majorFont>
        <a:latin typeface="Calibri"/>
        <a:ea typeface=""/>
        <a:cs typeface=""/>
        <a:font script="Hang" typeface="맑은 고딕"/>
      </a:majorFont>
      <a:minorFont>
        <a:latin typeface="Calibri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QMC PPTX Generator (CDT-310 template)</Application>
  <PresentationFormat>On-screen Show (Custom)</PresentationFormat>
  <Slides>12</Slides>
  <Company>QMC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CDT-320</dc:title>
  <dc:subject>Multi-Stage Development Plan</dc:subject>
  <dc:creator>QMC Engineering</dc:creator>
  <cp:lastModifiedBy>QMC Engineering</cp:lastModifiedBy>
  <cp:revision>1</cp:revision>
  <dcterms:created xsi:type="dcterms:W3CDTF">2026-04-29T10:25:05Z</dcterms:created>
  <dcterms:modified xsi:type="dcterms:W3CDTF">2026-04-29T10:25:05Z</dcterms:modified>
</cp:coreProperties>
</file>